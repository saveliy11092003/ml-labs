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0F26C5-35BE-47F8-A980-5656D1514861}">
  <a:tblStyle styleId="{7F0F26C5-35BE-47F8-A980-5656D15148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e077e8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e077e8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0120ff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0120ff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0120ff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0120ff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0120ffd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c0120ff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0120ffd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0120ffd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0120ffd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c0120ffd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0120ffd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c0120ffd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0120ffd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0120ffd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c0120ffd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c0120ffd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log.skillfactory.ru/glossary/machine-learning/" TargetMode="External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3" Type="http://schemas.openxmlformats.org/officeDocument/2006/relationships/image" Target="../media/image5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11.png"/><Relationship Id="rId14" Type="http://schemas.openxmlformats.org/officeDocument/2006/relationships/image" Target="../media/image7.png"/><Relationship Id="rId17" Type="http://schemas.openxmlformats.org/officeDocument/2006/relationships/image" Target="../media/image18.png"/><Relationship Id="rId16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18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66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Машины опорных векторов (SVM)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Выполнил: Трушков Савелий</a:t>
            </a:r>
            <a:br>
              <a:rPr lang="ru"/>
            </a:br>
            <a:r>
              <a:rPr lang="ru"/>
              <a:t>группа 25222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SVM(Support Vector Machine)?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Метод опорных векторов - это алгоритм </a:t>
            </a:r>
            <a:r>
              <a:rPr lang="ru" sz="1400">
                <a:solidFill>
                  <a:srgbClr val="181818"/>
                </a:solidFill>
                <a:highlight>
                  <a:schemeClr val="lt1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машинного обучения</a:t>
            </a:r>
            <a:r>
              <a:rPr lang="ru" sz="14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применяемый для задач линейной и нелинейной классификации, регрессии и обнаружения аномальных данных. </a:t>
            </a:r>
            <a:endParaRPr sz="14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5038" y="1987825"/>
            <a:ext cx="3453925" cy="3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5825" y="245175"/>
            <a:ext cx="41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Какое разделение лучше?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900" y="0"/>
            <a:ext cx="316230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2637888"/>
            <a:ext cx="59055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7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точки зрения SVM, оптимальная разделяющая гиперплоскость - это та, которая образует наиболее широкую полосу между объектами двух классов.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определения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Гиперплоскост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ь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Опорные векторы.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Зазор.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Ядро.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875" y="1017725"/>
            <a:ext cx="366055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10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писание идеи на уровне математики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25" y="673625"/>
            <a:ext cx="3414682" cy="26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988" y="679950"/>
            <a:ext cx="962025" cy="257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100" y="1222725"/>
            <a:ext cx="315277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750" y="1026337"/>
            <a:ext cx="3000375" cy="409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738" y="1470475"/>
            <a:ext cx="2524125" cy="4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11925" y="1577600"/>
            <a:ext cx="809625" cy="276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1750" y="1952700"/>
            <a:ext cx="1485900" cy="49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738" y="2487987"/>
            <a:ext cx="2886075" cy="276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81400" y="2328875"/>
            <a:ext cx="2562225" cy="485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1750" y="2952362"/>
            <a:ext cx="381000" cy="18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88725" y="2912075"/>
            <a:ext cx="2733675" cy="276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1750" y="3283825"/>
            <a:ext cx="1038225" cy="200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59350" y="3255250"/>
            <a:ext cx="1552575" cy="257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6825" y="3634350"/>
            <a:ext cx="2705100" cy="257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21749" y="4114300"/>
            <a:ext cx="2214800" cy="921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238324" y="4114300"/>
            <a:ext cx="2368573" cy="921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5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Типы SVM для классификации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18"/>
          <p:cNvGraphicFramePr/>
          <p:nvPr/>
        </p:nvGraphicFramePr>
        <p:xfrm>
          <a:off x="596300" y="84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{7F0F26C5-35BE-47F8-A980-5656D1514861}</a:tableStyleId>
              </a:tblPr>
              <a:tblGrid>
                <a:gridCol w="4118000"/>
                <a:gridCol w="4118000"/>
              </a:tblGrid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18181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SVM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18181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Пояснение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1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Линейный SVM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Самый простой тип, который используется для задач двоичной классификации, где точки данных могут быть разделены прямой линией.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3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Нелинейный SVM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Применяется для задач классификации, когда точки данных не могут быть разделены прямой линией.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с мягкими границами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некоторых случаях точки данных не могут быть полностью разделены, и SVM может допускать, чтобы некоторые из них находились на неправильной стороне границы решения (неправильно классифицировались).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81818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Многоклассовая SVM</a:t>
                      </a:r>
                      <a:endParaRPr>
                        <a:solidFill>
                          <a:srgbClr val="181818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Может решать задачи классификации с более чем двумя классами.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25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Ядра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600"/>
              <a:buFont typeface="Times New Roman"/>
              <a:buAutoNum type="arabicPeriod"/>
            </a:pPr>
            <a:r>
              <a:rPr lang="ru" sz="16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Линейное ядро</a:t>
            </a:r>
            <a:endParaRPr sz="16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600"/>
              <a:buFont typeface="Times New Roman"/>
              <a:buAutoNum type="arabicPeriod"/>
            </a:pPr>
            <a:r>
              <a:rPr lang="ru" sz="16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Полиномиальное ядро</a:t>
            </a:r>
            <a:endParaRPr sz="16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600"/>
              <a:buFont typeface="Times New Roman"/>
              <a:buAutoNum type="arabicPeriod"/>
            </a:pPr>
            <a:r>
              <a:rPr lang="ru" sz="16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Радиальное базисное ядро</a:t>
            </a:r>
            <a:endParaRPr sz="16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600"/>
              <a:buFont typeface="Times New Roman"/>
              <a:buAutoNum type="arabicPeriod"/>
            </a:pPr>
            <a:r>
              <a:rPr lang="ru" sz="1600">
                <a:solidFill>
                  <a:srgbClr val="181818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Сигмоидальное ядро </a:t>
            </a:r>
            <a:endParaRPr sz="1600">
              <a:solidFill>
                <a:srgbClr val="181818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900" y="976500"/>
            <a:ext cx="43574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26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</a:t>
            </a:r>
            <a:r>
              <a:rPr lang="ru"/>
              <a:t>еализация в sklearn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766" y="1014200"/>
            <a:ext cx="5348475" cy="3799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184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и недостатки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952500" y="10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{7F0F26C5-35BE-47F8-A980-5656D1514861}</a:tableStyleId>
              </a:tblPr>
              <a:tblGrid>
                <a:gridCol w="3619500"/>
                <a:gridCol w="3619500"/>
              </a:tblGrid>
              <a:tr h="59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1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Эффективен в многомерных пространствах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Требует настройки ядра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Эффективен по памяти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 дает оценок вероятности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Гибок благодаря ядрам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Может быть медленным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540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33350" y="56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Здравоохранение: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Диагностика заболеваний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Обработка и анализ медицинских изображений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Финансовый сектор: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кредитоспособности клиентов на основе их финансовых данных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наружение мошенничества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Информационные технологии: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Классификация текстов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аспознавание спама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аспознавание изображений и видео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Биоинформатика: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Классификация последовательностей ДНК и РНК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ыявление генов, связанных с определенными заболеваниями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Розничная торговля: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потребительского поведения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Маркетинг и реклама: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целевой аудитории для рекламы на основе демографических и поведенческих данных.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